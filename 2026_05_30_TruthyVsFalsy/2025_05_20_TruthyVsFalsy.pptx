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84" r:id="rId2"/>
    <p:sldId id="296" r:id="rId3"/>
    <p:sldId id="293" r:id="rId4"/>
    <p:sldId id="297" r:id="rId5"/>
    <p:sldId id="287" r:id="rId6"/>
    <p:sldId id="294" r:id="rId7"/>
    <p:sldId id="295" r:id="rId8"/>
    <p:sldId id="285" r:id="rId9"/>
    <p:sldId id="286" r:id="rId10"/>
    <p:sldId id="289" r:id="rId11"/>
    <p:sldId id="291" r:id="rId12"/>
    <p:sldId id="292" r:id="rId13"/>
    <p:sldId id="281" r:id="rId14"/>
    <p:sldId id="29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170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976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this is probably the most important slide in the entire presentation, because everything about all() and any() depends on understanding truthy and falsy values.</a:t>
            </a:r>
          </a:p>
          <a:p>
            <a:r>
              <a:rPr lang="en-US" dirty="0"/>
              <a:t>In Python, every single object has an inherent truth value. When Python needs to evaluate something as True or False — like in an if statement — it uses these rules.</a:t>
            </a:r>
          </a:p>
          <a:p>
            <a:r>
              <a:rPr lang="en-US" dirty="0"/>
              <a:t>On the left, you can see all the falsy values: None, the boolean False, zero in any numeric type, and any empty collection — empty string, empty list, empty tuple, empty dict, empty set, and empty range.</a:t>
            </a:r>
          </a:p>
          <a:p>
            <a:r>
              <a:rPr lang="en-US" dirty="0"/>
              <a:t>On the right, everything else is truthy. Any non-zero number, any non-empty string — even a string with just a space counts — any non-empty collection, and custom objects by default.</a:t>
            </a:r>
          </a:p>
          <a:p>
            <a:r>
              <a:rPr lang="en-US" dirty="0"/>
              <a:t>The underlying mechanism is simple: Python calls bool() on the value. bool() converts anything to True or False, and both all() and any() use this under the hood.</a:t>
            </a:r>
          </a:p>
          <a:p>
            <a:r>
              <a:rPr lang="en-US" dirty="0"/>
              <a:t>Memorize the falsy values list — it's short and it will save you from a lot of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11D99-99DE-3337-ED2E-8CB7AE48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DBDB9-1F2F-B8B5-BCF0-B9846BC94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5DEFD-12BC-E0E1-2F17-2F51A810E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this is probably the most important slide in the entire presentation, because everything about all() and any() depends on understanding truthy and falsy values.</a:t>
            </a:r>
          </a:p>
          <a:p>
            <a:r>
              <a:rPr lang="en-US" dirty="0"/>
              <a:t>In Python, every single object has an inherent truth value. When Python needs to evaluate something as True or False — like in an if statement — it uses these rules.</a:t>
            </a:r>
          </a:p>
          <a:p>
            <a:r>
              <a:rPr lang="en-US" dirty="0"/>
              <a:t>On the left, you can see all the falsy values: None, the boolean False, zero in any numeric type, and any empty collection — empty string, empty list, empty tuple, empty dict, empty set, and empty range.</a:t>
            </a:r>
          </a:p>
          <a:p>
            <a:r>
              <a:rPr lang="en-US" dirty="0"/>
              <a:t>On the right, everything else is truthy. Any non-zero number, any non-empty string — even a string with just a space counts — any non-empty collection, and custom objects by default.</a:t>
            </a:r>
          </a:p>
          <a:p>
            <a:r>
              <a:rPr lang="en-US" dirty="0"/>
              <a:t>The underlying mechanism is simple: Python calls bool() on the value. bool() converts anything to True or False, and both all() and any() use this under the hood.</a:t>
            </a:r>
          </a:p>
          <a:p>
            <a:r>
              <a:rPr lang="en-US" dirty="0"/>
              <a:t>Memorize the falsy values list — it's short and it will save you from a lot of bugs.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37733-9C64-E98C-853D-F1D5BC2A93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887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put it all together with this priority chain diagram. When Python calls bool() on any object, it follows three steps in order.</a:t>
            </a:r>
          </a:p>
          <a:p>
            <a:r>
              <a:rPr lang="en-US" dirty="0"/>
              <a:t>Step one: does the object have a __bool__ method? If yes, use it. This has the highest priority. That's our Wallet example.</a:t>
            </a:r>
          </a:p>
          <a:p>
            <a:r>
              <a:rPr lang="en-US" dirty="0"/>
              <a:t>Step two: if there's no __bool__, does it have __len__? If yes, use that — length zero means falsy, anything else means truthy. That's our Playlist example.</a:t>
            </a:r>
          </a:p>
          <a:p>
            <a:r>
              <a:rPr lang="en-US" dirty="0"/>
              <a:t>Step three: if neither __bool__ nor __len__ exists, the object defaults to True. A plain object() with no special methods is always truthy.</a:t>
            </a:r>
          </a:p>
          <a:p>
            <a:r>
              <a:rPr lang="en-US" dirty="0"/>
              <a:t>This chain isn't just used by all() and any() — it applies everywhere in Python: if/else statements, while loops, filter(), and boolean operators like 'and' and 'or'.</a:t>
            </a:r>
          </a:p>
          <a:p>
            <a:r>
              <a:rPr lang="en-US" dirty="0"/>
              <a:t>Understanding this chain means you'll never be surprised by how Python evaluates truthiness.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something really powerful: you can define your own truth rules for custom classes by implementing the dunder bool method.</a:t>
            </a:r>
          </a:p>
          <a:p>
            <a:r>
              <a:rPr lang="en-US" dirty="0"/>
              <a:t>Look at this Wallet class. We've defined __bool__ to return True when the balance is greater than zero, and False otherwise.</a:t>
            </a:r>
          </a:p>
          <a:p>
            <a:r>
              <a:rPr lang="en-US" dirty="0"/>
              <a:t>So when you write bool(Wallet(50)), Python calls the __bool__ method, sees the balance is 50, and returns True. bool(Wallet(0)) returns False.</a:t>
            </a:r>
          </a:p>
          <a:p>
            <a:r>
              <a:rPr lang="en-US" dirty="0"/>
              <a:t>And here's the beautiful part — this works seamlessly with all() and any(). If you have a list of wallets and call all() on them, Python checks each wallet's __bool__ method.</a:t>
            </a:r>
          </a:p>
          <a:p>
            <a:r>
              <a:rPr lang="en-US" dirty="0"/>
              <a:t>In the example, a list of wallets all with positive balances returns True for all(). But mix in a wallet with zero balance, and all() returns False while any() still returns True.</a:t>
            </a:r>
          </a:p>
          <a:p>
            <a:r>
              <a:rPr lang="en-US" dirty="0"/>
              <a:t>There's also a fallback: if you don't define __bool__, Python will check for __len__ instead. We'll cover that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__len__ fallback mechanism. When your class doesn't define __bool__, Python looks for __len__ as a backup.</a:t>
            </a:r>
          </a:p>
          <a:p>
            <a:r>
              <a:rPr lang="en-US" dirty="0"/>
              <a:t>Here's a Playlist class that only defines __len__. It returns the number of songs in the playlist.</a:t>
            </a:r>
          </a:p>
          <a:p>
            <a:r>
              <a:rPr lang="en-US" dirty="0"/>
              <a:t>The rule is straightforward: if __len__ returns zero, the object is falsy. If it returns anything greater than zero, the object is truthy.</a:t>
            </a:r>
          </a:p>
          <a:p>
            <a:r>
              <a:rPr lang="en-US" dirty="0"/>
              <a:t>So a playlist with two songs — bool() gives True. An empty playlist — bool() gives False.</a:t>
            </a:r>
          </a:p>
          <a:p>
            <a:r>
              <a:rPr lang="en-US" dirty="0"/>
              <a:t>This is why empty lists, empty strings, and empty dicts are all falsy — they all have length zero!</a:t>
            </a:r>
          </a:p>
          <a:p>
            <a:r>
              <a:rPr lang="en-US" dirty="0"/>
              <a:t>And just like with __bool__, this integrates perfectly with all() and any(). A list of non-empty playlists passes all(). Mix in an empty one, and all() fails but any() still succeeds.</a:t>
            </a:r>
          </a:p>
          <a:p>
            <a:r>
              <a:rPr lang="en-US" dirty="0"/>
              <a:t>The key takeaway: Python gives you fine-grained control over how your objects behave in boolean contexts.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all for attending today's session on all() and any()!</a:t>
            </a:r>
          </a:p>
          <a:p>
            <a:r>
              <a:rPr lang="en-US" dirty="0"/>
              <a:t>I hope you now feel confident using these two powerful built-in functions in your own code.</a:t>
            </a:r>
          </a:p>
          <a:p>
            <a:r>
              <a:rPr lang="en-US" dirty="0"/>
              <a:t>The best way to solidify this knowledge is to practice: go refactor some existing code that uses for loops with boolean flags, and see if you can replace them with all() or any().</a:t>
            </a:r>
          </a:p>
          <a:p>
            <a:r>
              <a:rPr lang="en-US" dirty="0"/>
              <a:t>Are there any questions? I'm happy to discuss specific use cases, edge cases, or anything else related to what we covered today.</a:t>
            </a:r>
          </a:p>
          <a:p>
            <a:r>
              <a:rPr lang="en-US" dirty="0"/>
              <a:t>If you'd like to dive deeper, I recommend checking out the Python documentation for built-in functions — there are plenty of other gems in there beyond all() and any().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TotalPythoneering/Missions/tree/main/2025_05_20_Truthly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uthy and Falsy Values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320000"/>
            <a:ext cx="73152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Truthy vs </a:t>
            </a:r>
            <a:r>
              <a:rPr lang="en-US" sz="3200" dirty="0" err="1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Falsy</a:t>
            </a:r>
            <a:r>
              <a:rPr lang="en-US" sz="3200" dirty="0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Values?</a:t>
            </a:r>
          </a:p>
        </p:txBody>
      </p:sp>
      <p:sp>
        <p:nvSpPr>
          <p:cNvPr id="3" name="Subtitle"/>
          <p:cNvSpPr/>
          <p:nvPr/>
        </p:nvSpPr>
        <p:spPr>
          <a:xfrm>
            <a:off x="640080" y="850000"/>
            <a:ext cx="7863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Python’s inherent ‘truth values’: </a:t>
            </a:r>
            <a:r>
              <a:rPr lang="en-US" sz="15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Pythonic gatekeeper &amp; filtering ‘Ops</a:t>
            </a:r>
          </a:p>
        </p:txBody>
      </p:sp>
      <p:sp>
        <p:nvSpPr>
          <p:cNvPr id="4" name="FalsyHeaderBg"/>
          <p:cNvSpPr/>
          <p:nvPr/>
        </p:nvSpPr>
        <p:spPr>
          <a:xfrm>
            <a:off x="640080" y="1230000"/>
            <a:ext cx="3840000" cy="400000"/>
          </a:xfrm>
          <a:prstGeom prst="roundRect">
            <a:avLst>
              <a:gd name="adj" fmla="val 8000"/>
            </a:avLst>
          </a:prstGeom>
          <a:solidFill>
            <a:srgbClr val="E74C3C"/>
          </a:solidFill>
          <a:ln w="0">
            <a:noFill/>
          </a:ln>
        </p:spPr>
        <p:txBody>
          <a:bodyPr wrap="square" lIns="137160" tIns="45720" rIns="91440" bIns="4572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  <a:latin typeface="Arial Black" pitchFamily="34" charset="0"/>
              </a:rPr>
              <a:t>Falsy</a:t>
            </a: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</a:rPr>
              <a:t> Values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   — evaluate to False</a:t>
            </a:r>
          </a:p>
        </p:txBody>
      </p:sp>
      <p:sp>
        <p:nvSpPr>
          <p:cNvPr id="5" name="FalsyCardBg"/>
          <p:cNvSpPr/>
          <p:nvPr/>
        </p:nvSpPr>
        <p:spPr>
          <a:xfrm>
            <a:off x="640080" y="1680000"/>
            <a:ext cx="3840000" cy="2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4C3C">
                <a:alpha val="30000"/>
              </a:srgbClr>
            </a:solidFill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FalsyContent"/>
          <p:cNvSpPr/>
          <p:nvPr/>
        </p:nvSpPr>
        <p:spPr>
          <a:xfrm>
            <a:off x="840000" y="1750000"/>
            <a:ext cx="3440000" cy="2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</a:pPr>
            <a:endParaRPr lang="en-US" sz="1200" dirty="0">
              <a:solidFill>
                <a:srgbClr val="6C757D"/>
              </a:solidFill>
              <a:latin typeface="Calibri" pitchFamily="34" charset="0"/>
            </a:endParaRPr>
          </a:p>
        </p:txBody>
      </p:sp>
      <p:sp>
        <p:nvSpPr>
          <p:cNvPr id="7" name="TruthyHeaderBg"/>
          <p:cNvSpPr/>
          <p:nvPr/>
        </p:nvSpPr>
        <p:spPr>
          <a:xfrm>
            <a:off x="4680000" y="1230000"/>
            <a:ext cx="3840000" cy="400000"/>
          </a:xfrm>
          <a:prstGeom prst="roundRect">
            <a:avLst>
              <a:gd name="adj" fmla="val 8000"/>
            </a:avLst>
          </a:prstGeom>
          <a:solidFill>
            <a:srgbClr val="2ECC71"/>
          </a:solidFill>
          <a:ln w="0">
            <a:noFill/>
          </a:ln>
        </p:spPr>
        <p:txBody>
          <a:bodyPr wrap="square" lIns="137160" tIns="45720" rIns="91440" bIns="4572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</a:rPr>
              <a:t>Truthy Values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   — evaluate to True</a:t>
            </a:r>
          </a:p>
        </p:txBody>
      </p:sp>
      <p:sp>
        <p:nvSpPr>
          <p:cNvPr id="8" name="TruthyCardBg"/>
          <p:cNvSpPr/>
          <p:nvPr/>
        </p:nvSpPr>
        <p:spPr>
          <a:xfrm>
            <a:off x="4680000" y="1680000"/>
            <a:ext cx="3840000" cy="2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2ECC71">
                <a:alpha val="30000"/>
              </a:srgbClr>
            </a:solidFill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ruthyContent"/>
          <p:cNvSpPr/>
          <p:nvPr/>
        </p:nvSpPr>
        <p:spPr>
          <a:xfrm>
            <a:off x="4880000" y="1750000"/>
            <a:ext cx="3440000" cy="2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</a:pPr>
            <a:endParaRPr lang="en-US" sz="1200" i="1" dirty="0">
              <a:solidFill>
                <a:srgbClr val="6C757D"/>
              </a:solidFill>
              <a:latin typeface="Calibri" pitchFamily="34" charset="0"/>
            </a:endParaRPr>
          </a:p>
        </p:txBody>
      </p:sp>
      <p:sp>
        <p:nvSpPr>
          <p:cNvPr id="10" name="KeyRuleBg"/>
          <p:cNvSpPr/>
          <p:nvPr/>
        </p:nvSpPr>
        <p:spPr>
          <a:xfrm>
            <a:off x="640080" y="4580000"/>
            <a:ext cx="7863840" cy="5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0">
            <a:noFill/>
          </a:ln>
        </p:spPr>
        <p:txBody>
          <a:bodyPr wrap="square" lIns="137160" tIns="45720" rIns="137160" bIns="4572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</a:rPr>
              <a:t>Using </a:t>
            </a:r>
            <a:r>
              <a:rPr lang="en-US" sz="1300" b="1" dirty="0">
                <a:solidFill>
                  <a:srgbClr val="FFD43B"/>
                </a:solidFill>
                <a:latin typeface="Consolas" pitchFamily="34" charset="0"/>
              </a:rPr>
              <a:t>bool(x)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</a:rPr>
              <a:t> converts any object to </a:t>
            </a:r>
            <a:r>
              <a:rPr lang="en-US" sz="1300" b="1" dirty="0">
                <a:solidFill>
                  <a:srgbClr val="FFFF00"/>
                </a:solidFill>
                <a:latin typeface="Calibri" pitchFamily="34" charset="0"/>
              </a:rPr>
              <a:t>True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</a:rPr>
              <a:t> or </a:t>
            </a:r>
            <a:r>
              <a:rPr lang="en-US" sz="1300" b="1" dirty="0">
                <a:solidFill>
                  <a:srgbClr val="FFFF00"/>
                </a:solidFill>
                <a:latin typeface="Calibri" pitchFamily="34" charset="0"/>
              </a:rPr>
              <a:t>False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51A098-D14E-A8F7-7CA1-5289DB7385DD}"/>
              </a:ext>
            </a:extLst>
          </p:cNvPr>
          <p:cNvSpPr txBox="1"/>
          <p:nvPr/>
        </p:nvSpPr>
        <p:spPr>
          <a:xfrm>
            <a:off x="1993695" y="2386147"/>
            <a:ext cx="10792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9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A0DAFA-5EBE-5B65-2721-125B125F745B}"/>
              </a:ext>
            </a:extLst>
          </p:cNvPr>
          <p:cNvSpPr txBox="1"/>
          <p:nvPr/>
        </p:nvSpPr>
        <p:spPr>
          <a:xfrm>
            <a:off x="6125990" y="2381152"/>
            <a:ext cx="10792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/>
      <p:bldP spid="10" grpId="0" animBg="1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A5D254-1DF8-F9CE-843F-CBA867258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05" y="476685"/>
            <a:ext cx="6029642" cy="23881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D2BE58-72C9-A51D-CE3C-59F529B7A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224" y="1746470"/>
            <a:ext cx="3143689" cy="2819794"/>
          </a:xfrm>
          <a:prstGeom prst="rect">
            <a:avLst/>
          </a:prstGeom>
          <a:ln w="635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853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F55A5F-66B0-64B9-D63E-EAE7ED720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470" y="1171379"/>
            <a:ext cx="5087060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23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415F06-F859-0FFA-6EF2-B09D96348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FA29261-E12A-2877-B8CD-2224E0EED3B0}"/>
              </a:ext>
            </a:extLst>
          </p:cNvPr>
          <p:cNvSpPr/>
          <p:nvPr/>
        </p:nvSpPr>
        <p:spPr>
          <a:xfrm>
            <a:off x="640080" y="320000"/>
            <a:ext cx="73152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Truthy vs </a:t>
            </a:r>
            <a:r>
              <a:rPr lang="en-US" sz="3200" dirty="0" err="1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Falsy</a:t>
            </a:r>
            <a:r>
              <a:rPr lang="en-US" sz="3200" dirty="0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Values?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FD3B497-B539-8E2A-8605-9EAB7A353DA6}"/>
              </a:ext>
            </a:extLst>
          </p:cNvPr>
          <p:cNvSpPr/>
          <p:nvPr/>
        </p:nvSpPr>
        <p:spPr>
          <a:xfrm>
            <a:off x="640080" y="850000"/>
            <a:ext cx="7863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Python’s inherent ‘truth values’: </a:t>
            </a:r>
            <a:r>
              <a:rPr lang="en-US" sz="15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to understanding gatekeeper &amp; filtering ‘Ops</a:t>
            </a:r>
          </a:p>
        </p:txBody>
      </p:sp>
      <p:sp>
        <p:nvSpPr>
          <p:cNvPr id="4" name="FalsyHeaderBg">
            <a:extLst>
              <a:ext uri="{FF2B5EF4-FFF2-40B4-BE49-F238E27FC236}">
                <a16:creationId xmlns:a16="http://schemas.microsoft.com/office/drawing/2014/main" id="{5B3E2D57-1260-579C-E715-39774FE82FA8}"/>
              </a:ext>
            </a:extLst>
          </p:cNvPr>
          <p:cNvSpPr/>
          <p:nvPr/>
        </p:nvSpPr>
        <p:spPr>
          <a:xfrm>
            <a:off x="640080" y="1230000"/>
            <a:ext cx="3840000" cy="400000"/>
          </a:xfrm>
          <a:prstGeom prst="roundRect">
            <a:avLst>
              <a:gd name="adj" fmla="val 8000"/>
            </a:avLst>
          </a:prstGeom>
          <a:solidFill>
            <a:srgbClr val="E74C3C"/>
          </a:solidFill>
          <a:ln w="0">
            <a:noFill/>
          </a:ln>
        </p:spPr>
        <p:txBody>
          <a:bodyPr wrap="square" lIns="137160" tIns="45720" rIns="91440" bIns="4572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  <a:latin typeface="Arial Black" pitchFamily="34" charset="0"/>
              </a:rPr>
              <a:t>Falsy</a:t>
            </a: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</a:rPr>
              <a:t> Values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   — evaluate to False</a:t>
            </a:r>
          </a:p>
        </p:txBody>
      </p:sp>
      <p:sp>
        <p:nvSpPr>
          <p:cNvPr id="5" name="FalsyCardBg">
            <a:extLst>
              <a:ext uri="{FF2B5EF4-FFF2-40B4-BE49-F238E27FC236}">
                <a16:creationId xmlns:a16="http://schemas.microsoft.com/office/drawing/2014/main" id="{01145378-27CC-1D46-8448-ECD93EF3A46B}"/>
              </a:ext>
            </a:extLst>
          </p:cNvPr>
          <p:cNvSpPr/>
          <p:nvPr/>
        </p:nvSpPr>
        <p:spPr>
          <a:xfrm>
            <a:off x="640080" y="1680000"/>
            <a:ext cx="3840000" cy="2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4C3C">
                <a:alpha val="30000"/>
              </a:srgbClr>
            </a:solidFill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FalsyContent">
            <a:extLst>
              <a:ext uri="{FF2B5EF4-FFF2-40B4-BE49-F238E27FC236}">
                <a16:creationId xmlns:a16="http://schemas.microsoft.com/office/drawing/2014/main" id="{0A4EA164-7240-6D39-77DB-0B0EEB761962}"/>
              </a:ext>
            </a:extLst>
          </p:cNvPr>
          <p:cNvSpPr/>
          <p:nvPr/>
        </p:nvSpPr>
        <p:spPr>
          <a:xfrm>
            <a:off x="840000" y="1750000"/>
            <a:ext cx="3440000" cy="2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E74C3C"/>
                </a:solidFill>
                <a:latin typeface="Consolas" pitchFamily="34" charset="0"/>
              </a:rPr>
              <a:t>None</a:t>
            </a:r>
            <a:r>
              <a:rPr lang="en-US" sz="1200" dirty="0">
                <a:solidFill>
                  <a:srgbClr val="6C757D"/>
                </a:solidFill>
                <a:latin typeface="Calibri" pitchFamily="34" charset="0"/>
              </a:rPr>
              <a:t>          the null object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E74C3C"/>
                </a:solidFill>
                <a:latin typeface="Consolas" pitchFamily="34" charset="0"/>
              </a:rPr>
              <a:t>False</a:t>
            </a:r>
            <a:r>
              <a:rPr lang="en-US" sz="1200" dirty="0">
                <a:solidFill>
                  <a:srgbClr val="6C757D"/>
                </a:solidFill>
                <a:latin typeface="Calibri" pitchFamily="34" charset="0"/>
              </a:rPr>
              <a:t>        the </a:t>
            </a:r>
            <a:r>
              <a:rPr lang="en-US" sz="1200" dirty="0" err="1">
                <a:solidFill>
                  <a:srgbClr val="6C757D"/>
                </a:solidFill>
                <a:latin typeface="Calibri" pitchFamily="34" charset="0"/>
              </a:rPr>
              <a:t>boolean</a:t>
            </a:r>
            <a:r>
              <a:rPr lang="en-US" sz="1200" dirty="0">
                <a:solidFill>
                  <a:srgbClr val="6C757D"/>
                </a:solidFill>
                <a:latin typeface="Calibri" pitchFamily="34" charset="0"/>
              </a:rPr>
              <a:t> False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E74C3C"/>
                </a:solidFill>
                <a:latin typeface="Consolas" pitchFamily="34" charset="0"/>
              </a:rPr>
              <a:t>0  0.0  </a:t>
            </a:r>
            <a:r>
              <a:rPr lang="en-US" sz="1200" dirty="0">
                <a:solidFill>
                  <a:srgbClr val="6C757D"/>
                </a:solidFill>
                <a:latin typeface="Calibri" pitchFamily="34" charset="0"/>
              </a:rPr>
              <a:t>zero in any numeric type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E74C3C"/>
                </a:solidFill>
                <a:latin typeface="Consolas" pitchFamily="34" charset="0"/>
              </a:rPr>
              <a:t>""</a:t>
            </a:r>
            <a:r>
              <a:rPr lang="en-US" sz="1200" dirty="0">
                <a:solidFill>
                  <a:srgbClr val="6C757D"/>
                </a:solidFill>
                <a:latin typeface="Calibri" pitchFamily="34" charset="0"/>
              </a:rPr>
              <a:t>                  empty string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E74C3C"/>
                </a:solidFill>
                <a:latin typeface="Consolas" pitchFamily="34" charset="0"/>
              </a:rPr>
              <a:t>{}[]()</a:t>
            </a:r>
            <a:r>
              <a:rPr lang="en-US" sz="1200" dirty="0">
                <a:solidFill>
                  <a:srgbClr val="6C757D"/>
                </a:solidFill>
                <a:latin typeface="Calibri" pitchFamily="34" charset="0"/>
              </a:rPr>
              <a:t>       any empty collections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E74C3C"/>
                </a:solidFill>
                <a:latin typeface="Consolas" pitchFamily="34" charset="0"/>
              </a:rPr>
              <a:t>range(0)</a:t>
            </a:r>
            <a:r>
              <a:rPr lang="en-US" sz="1200" dirty="0">
                <a:solidFill>
                  <a:srgbClr val="6C757D"/>
                </a:solidFill>
                <a:latin typeface="Calibri" pitchFamily="34" charset="0"/>
              </a:rPr>
              <a:t>  empty range (et al.)</a:t>
            </a:r>
          </a:p>
        </p:txBody>
      </p:sp>
      <p:sp>
        <p:nvSpPr>
          <p:cNvPr id="7" name="TruthyHeaderBg">
            <a:extLst>
              <a:ext uri="{FF2B5EF4-FFF2-40B4-BE49-F238E27FC236}">
                <a16:creationId xmlns:a16="http://schemas.microsoft.com/office/drawing/2014/main" id="{F88A5F7B-BB8D-3D9A-54CA-97D1DA8E4C3B}"/>
              </a:ext>
            </a:extLst>
          </p:cNvPr>
          <p:cNvSpPr/>
          <p:nvPr/>
        </p:nvSpPr>
        <p:spPr>
          <a:xfrm>
            <a:off x="4680000" y="1230000"/>
            <a:ext cx="3840000" cy="400000"/>
          </a:xfrm>
          <a:prstGeom prst="roundRect">
            <a:avLst>
              <a:gd name="adj" fmla="val 8000"/>
            </a:avLst>
          </a:prstGeom>
          <a:solidFill>
            <a:srgbClr val="2ECC71"/>
          </a:solidFill>
          <a:ln w="0">
            <a:noFill/>
          </a:ln>
        </p:spPr>
        <p:txBody>
          <a:bodyPr wrap="square" lIns="137160" tIns="45720" rIns="91440" bIns="4572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</a:rPr>
              <a:t>Truthy Values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   — evaluate to True</a:t>
            </a:r>
          </a:p>
        </p:txBody>
      </p:sp>
      <p:sp>
        <p:nvSpPr>
          <p:cNvPr id="8" name="TruthyCardBg">
            <a:extLst>
              <a:ext uri="{FF2B5EF4-FFF2-40B4-BE49-F238E27FC236}">
                <a16:creationId xmlns:a16="http://schemas.microsoft.com/office/drawing/2014/main" id="{1388DEF2-190F-9272-6C4E-D5F84422EF2A}"/>
              </a:ext>
            </a:extLst>
          </p:cNvPr>
          <p:cNvSpPr/>
          <p:nvPr/>
        </p:nvSpPr>
        <p:spPr>
          <a:xfrm>
            <a:off x="4680000" y="1680000"/>
            <a:ext cx="3840000" cy="28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2ECC71">
                <a:alpha val="30000"/>
              </a:srgbClr>
            </a:solidFill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ruthyContent">
            <a:extLst>
              <a:ext uri="{FF2B5EF4-FFF2-40B4-BE49-F238E27FC236}">
                <a16:creationId xmlns:a16="http://schemas.microsoft.com/office/drawing/2014/main" id="{51A61A50-14CF-9111-FF57-3FF84CC721A4}"/>
              </a:ext>
            </a:extLst>
          </p:cNvPr>
          <p:cNvSpPr/>
          <p:nvPr/>
        </p:nvSpPr>
        <p:spPr>
          <a:xfrm>
            <a:off x="4880000" y="1750000"/>
            <a:ext cx="3440000" cy="2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b="1">
                <a:solidFill>
                  <a:srgbClr val="2ECC71"/>
                </a:solidFill>
                <a:latin typeface="Consolas" pitchFamily="34" charset="0"/>
              </a:rPr>
              <a:t>True</a:t>
            </a:r>
            <a:r>
              <a:rPr lang="en-US" sz="1200">
                <a:solidFill>
                  <a:srgbClr val="6C757D"/>
                </a:solidFill>
                <a:latin typeface="Calibri" pitchFamily="34" charset="0"/>
              </a:rPr>
              <a:t>        the boolean True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400" b="1">
                <a:solidFill>
                  <a:srgbClr val="2ECC71"/>
                </a:solidFill>
                <a:latin typeface="Consolas" pitchFamily="34" charset="0"/>
              </a:rPr>
              <a:t>1  -3  3.14</a:t>
            </a:r>
            <a:r>
              <a:rPr lang="en-US" sz="1200">
                <a:solidFill>
                  <a:srgbClr val="6C757D"/>
                </a:solidFill>
                <a:latin typeface="Calibri" pitchFamily="34" charset="0"/>
              </a:rPr>
              <a:t>  any non-zero number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400" b="1">
                <a:solidFill>
                  <a:srgbClr val="2ECC71"/>
                </a:solidFill>
                <a:latin typeface="Consolas" pitchFamily="34" charset="0"/>
              </a:rPr>
              <a:t>"hello"  " "</a:t>
            </a:r>
            <a:r>
              <a:rPr lang="en-US" sz="1200">
                <a:solidFill>
                  <a:srgbClr val="6C757D"/>
                </a:solidFill>
                <a:latin typeface="Calibri" pitchFamily="34" charset="0"/>
              </a:rPr>
              <a:t>  any non-empty string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400" b="1">
                <a:solidFill>
                  <a:srgbClr val="2ECC71"/>
                </a:solidFill>
                <a:latin typeface="Consolas" pitchFamily="34" charset="0"/>
              </a:rPr>
              <a:t>[1, 2]  [0]</a:t>
            </a:r>
            <a:r>
              <a:rPr lang="en-US" sz="1200">
                <a:solidFill>
                  <a:srgbClr val="6C757D"/>
                </a:solidFill>
                <a:latin typeface="Calibri" pitchFamily="34" charset="0"/>
              </a:rPr>
              <a:t>  any non-empty list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400" b="1">
                <a:solidFill>
                  <a:srgbClr val="2ECC71"/>
                </a:solidFill>
                <a:latin typeface="Consolas" pitchFamily="34" charset="0"/>
              </a:rPr>
              <a:t>{"a": 1}</a:t>
            </a:r>
            <a:r>
              <a:rPr lang="en-US" sz="1200">
                <a:solidFill>
                  <a:srgbClr val="6C757D"/>
                </a:solidFill>
                <a:latin typeface="Calibri" pitchFamily="34" charset="0"/>
              </a:rPr>
              <a:t>    any non-empty dict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400" b="1">
                <a:solidFill>
                  <a:srgbClr val="2ECC71"/>
                </a:solidFill>
                <a:latin typeface="Consolas" pitchFamily="34" charset="0"/>
              </a:rPr>
              <a:t>object()</a:t>
            </a:r>
            <a:r>
              <a:rPr lang="en-US" sz="1200">
                <a:solidFill>
                  <a:srgbClr val="6C757D"/>
                </a:solidFill>
                <a:latin typeface="Calibri" pitchFamily="34" charset="0"/>
              </a:rPr>
              <a:t>    custom objects (by default)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400" b="1">
                <a:solidFill>
                  <a:srgbClr val="2ECC71"/>
                </a:solidFill>
                <a:latin typeface="Consolas" pitchFamily="34" charset="0"/>
              </a:rPr>
              <a:t>lambda: ...</a:t>
            </a:r>
            <a:r>
              <a:rPr lang="en-US" sz="1200">
                <a:solidFill>
                  <a:srgbClr val="6C757D"/>
                </a:solidFill>
                <a:latin typeface="Calibri" pitchFamily="34" charset="0"/>
              </a:rPr>
              <a:t>  functions and classes</a:t>
            </a:r>
          </a:p>
          <a:p>
            <a:pPr marL="0" indent="0">
              <a:lnSpc>
                <a:spcPts val="2400"/>
              </a:lnSpc>
              <a:spcBef>
                <a:spcPts val="400"/>
              </a:spcBef>
              <a:buNone/>
            </a:pPr>
            <a:r>
              <a:rPr lang="en-US" sz="1200" i="1">
                <a:solidFill>
                  <a:srgbClr val="6C757D"/>
                </a:solidFill>
                <a:latin typeface="Calibri" pitchFamily="34" charset="0"/>
              </a:rPr>
              <a:t>Everything not in the falsy list is truthy!</a:t>
            </a:r>
          </a:p>
        </p:txBody>
      </p:sp>
      <p:sp>
        <p:nvSpPr>
          <p:cNvPr id="10" name="KeyRuleBg">
            <a:extLst>
              <a:ext uri="{FF2B5EF4-FFF2-40B4-BE49-F238E27FC236}">
                <a16:creationId xmlns:a16="http://schemas.microsoft.com/office/drawing/2014/main" id="{95CF37BF-1549-DF5D-300F-2C98B40011D7}"/>
              </a:ext>
            </a:extLst>
          </p:cNvPr>
          <p:cNvSpPr/>
          <p:nvPr/>
        </p:nvSpPr>
        <p:spPr>
          <a:xfrm>
            <a:off x="640080" y="4580000"/>
            <a:ext cx="7863840" cy="5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0">
            <a:noFill/>
          </a:ln>
        </p:spPr>
        <p:txBody>
          <a:bodyPr wrap="square" lIns="137160" tIns="45720" rIns="137160" bIns="4572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</a:rPr>
              <a:t>Using </a:t>
            </a:r>
            <a:r>
              <a:rPr lang="en-US" sz="1300" b="1" dirty="0">
                <a:solidFill>
                  <a:srgbClr val="FFD43B"/>
                </a:solidFill>
                <a:latin typeface="Consolas" pitchFamily="34" charset="0"/>
              </a:rPr>
              <a:t>bool(x)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</a:rPr>
              <a:t> converts any object to </a:t>
            </a:r>
            <a:r>
              <a:rPr lang="en-US" sz="1300" b="1" dirty="0">
                <a:solidFill>
                  <a:srgbClr val="FFFF00"/>
                </a:solidFill>
                <a:latin typeface="Calibri" pitchFamily="34" charset="0"/>
              </a:rPr>
              <a:t>True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</a:rPr>
              <a:t> or </a:t>
            </a:r>
            <a:r>
              <a:rPr lang="en-US" sz="1300" b="1" dirty="0">
                <a:solidFill>
                  <a:srgbClr val="FFFF00"/>
                </a:solidFill>
                <a:latin typeface="Calibri" pitchFamily="34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91713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uth Evaluation Chain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00000" y="250000"/>
            <a:ext cx="83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Evaluation Framework</a:t>
            </a:r>
          </a:p>
        </p:txBody>
      </p:sp>
      <p:sp>
        <p:nvSpPr>
          <p:cNvPr id="3" name="Subtitle"/>
          <p:cNvSpPr/>
          <p:nvPr/>
        </p:nvSpPr>
        <p:spPr>
          <a:xfrm>
            <a:off x="400000" y="770000"/>
            <a:ext cx="8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priority chain Python follows when </a:t>
            </a: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bool() </a:t>
            </a:r>
            <a:r>
              <a:rPr lang="en-US" sz="15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called on any object</a:t>
            </a:r>
          </a:p>
        </p:txBody>
      </p:sp>
      <p:sp>
        <p:nvSpPr>
          <p:cNvPr id="10" name="Start"/>
          <p:cNvSpPr/>
          <p:nvPr/>
        </p:nvSpPr>
        <p:spPr>
          <a:xfrm>
            <a:off x="300000" y="1350000"/>
            <a:ext cx="1350000" cy="450000"/>
          </a:xfrm>
          <a:prstGeom prst="flowChartTerminator">
            <a:avLst/>
          </a:prstGeom>
          <a:solidFill>
            <a:srgbClr val="306998"/>
          </a:solidFill>
          <a:ln w="0">
            <a:noFill/>
          </a:ln>
          <a:effectLst>
            <a:outerShdw blurRad="50800" dist="19050" dir="8100000" algn="bl" rotWithShape="0">
              <a:srgbClr val="000000">
                <a:alpha val="15000"/>
              </a:srgbClr>
            </a:outerShdw>
          </a:effectLst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onsolas" pitchFamily="34" charset="0"/>
              </a:rPr>
              <a:t>bool(obj)</a:t>
            </a:r>
          </a:p>
        </p:txBody>
      </p:sp>
      <p:cxnSp>
        <p:nvCxnSpPr>
          <p:cNvPr id="11" name="Arrow1"/>
          <p:cNvCxnSpPr/>
          <p:nvPr/>
        </p:nvCxnSpPr>
        <p:spPr>
          <a:xfrm>
            <a:off x="1650000" y="1575000"/>
            <a:ext cx="350000" cy="0"/>
          </a:xfrm>
          <a:prstGeom prst="line">
            <a:avLst/>
          </a:prstGeom>
          <a:ln w="25400">
            <a:solidFill>
              <a:srgbClr val="306998"/>
            </a:solidFill>
            <a:tailEnd type="triangle" w="med" len="med"/>
          </a:ln>
        </p:spPr>
      </p:cxnSp>
      <p:sp>
        <p:nvSpPr>
          <p:cNvPr id="12" name="Diamond1"/>
          <p:cNvSpPr/>
          <p:nvPr/>
        </p:nvSpPr>
        <p:spPr>
          <a:xfrm>
            <a:off x="2000000" y="1275000"/>
            <a:ext cx="1500000" cy="600000"/>
          </a:xfrm>
          <a:prstGeom prst="flowChartDecision">
            <a:avLst/>
          </a:prstGeom>
          <a:solidFill>
            <a:srgbClr val="FFB86C">
              <a:alpha val="25000"/>
            </a:srgbClr>
          </a:solidFill>
          <a:ln w="19050">
            <a:solidFill>
              <a:srgbClr val="FFB86C"/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1E2E"/>
                </a:solidFill>
                <a:latin typeface="Consolas" pitchFamily="34" charset="0"/>
              </a:rPr>
              <a:t>__bool__?</a:t>
            </a:r>
          </a:p>
        </p:txBody>
      </p:sp>
      <p:cxnSp>
        <p:nvCxnSpPr>
          <p:cNvPr id="14" name="Arrow2"/>
          <p:cNvCxnSpPr/>
          <p:nvPr/>
        </p:nvCxnSpPr>
        <p:spPr>
          <a:xfrm>
            <a:off x="3500000" y="1575000"/>
            <a:ext cx="350000" cy="0"/>
          </a:xfrm>
          <a:prstGeom prst="line">
            <a:avLst/>
          </a:prstGeom>
          <a:ln w="25400">
            <a:solidFill>
              <a:srgbClr val="2ECC71"/>
            </a:solidFill>
            <a:tailEnd type="triangle" w="med" len="med"/>
          </a:ln>
        </p:spPr>
      </p:cxnSp>
      <p:sp>
        <p:nvSpPr>
          <p:cNvPr id="15" name="Result1"/>
          <p:cNvSpPr/>
          <p:nvPr/>
        </p:nvSpPr>
        <p:spPr>
          <a:xfrm>
            <a:off x="3850000" y="1375000"/>
            <a:ext cx="1250000" cy="400000"/>
          </a:xfrm>
          <a:prstGeom prst="roundRect">
            <a:avLst>
              <a:gd name="adj" fmla="val 15000"/>
            </a:avLst>
          </a:prstGeom>
          <a:solidFill>
            <a:srgbClr val="2ECC71">
              <a:alpha val="15000"/>
            </a:srgbClr>
          </a:solidFill>
          <a:ln w="15875">
            <a:solidFill>
              <a:srgbClr val="2ECC71"/>
            </a:solidFill>
          </a:ln>
        </p:spPr>
        <p:txBody>
          <a:bodyPr wrap="square" lIns="45720" tIns="0" rIns="45720" bIns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E1E2E"/>
                </a:solidFill>
                <a:latin typeface="Calibri" pitchFamily="34" charset="0"/>
              </a:rPr>
              <a:t>Use </a:t>
            </a:r>
            <a:r>
              <a:rPr lang="en-US" sz="900" b="1">
                <a:solidFill>
                  <a:srgbClr val="2ECC71"/>
                </a:solidFill>
                <a:latin typeface="Consolas" pitchFamily="34" charset="0"/>
              </a:rPr>
              <a:t>__bool__</a:t>
            </a:r>
          </a:p>
          <a:p>
            <a:pPr marL="0" indent="0" algn="ctr">
              <a:buNone/>
            </a:pPr>
            <a:r>
              <a:rPr lang="en-US" sz="800" i="1">
                <a:solidFill>
                  <a:srgbClr val="6C757D"/>
                </a:solidFill>
                <a:latin typeface="Calibri" pitchFamily="34" charset="0"/>
              </a:rPr>
              <a:t>Highest priority</a:t>
            </a:r>
          </a:p>
        </p:txBody>
      </p:sp>
      <p:sp>
        <p:nvSpPr>
          <p:cNvPr id="16" name="NoLabel1"/>
          <p:cNvSpPr/>
          <p:nvPr/>
        </p:nvSpPr>
        <p:spPr>
          <a:xfrm>
            <a:off x="2353459" y="1880000"/>
            <a:ext cx="516541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</a:rPr>
              <a:t>No</a:t>
            </a:r>
          </a:p>
        </p:txBody>
      </p:sp>
      <p:cxnSp>
        <p:nvCxnSpPr>
          <p:cNvPr id="17" name="Arrow3"/>
          <p:cNvCxnSpPr/>
          <p:nvPr/>
        </p:nvCxnSpPr>
        <p:spPr>
          <a:xfrm>
            <a:off x="2750000" y="1875000"/>
            <a:ext cx="0" cy="475000"/>
          </a:xfrm>
          <a:prstGeom prst="line">
            <a:avLst/>
          </a:prstGeom>
          <a:ln w="25400">
            <a:solidFill>
              <a:srgbClr val="E74C3C"/>
            </a:solidFill>
            <a:tailEnd type="triangle" w="med" len="med"/>
          </a:ln>
        </p:spPr>
      </p:cxnSp>
      <p:sp>
        <p:nvSpPr>
          <p:cNvPr id="20" name="Diamond2"/>
          <p:cNvSpPr/>
          <p:nvPr/>
        </p:nvSpPr>
        <p:spPr>
          <a:xfrm>
            <a:off x="2000000" y="2350000"/>
            <a:ext cx="1500000" cy="600000"/>
          </a:xfrm>
          <a:prstGeom prst="flowChartDecision">
            <a:avLst/>
          </a:prstGeom>
          <a:solidFill>
            <a:srgbClr val="BD93F9">
              <a:alpha val="20000"/>
            </a:srgbClr>
          </a:solidFill>
          <a:ln w="19050">
            <a:solidFill>
              <a:srgbClr val="BD93F9"/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1E2E"/>
                </a:solidFill>
                <a:latin typeface="Consolas" pitchFamily="34" charset="0"/>
              </a:rPr>
              <a:t>__len__?</a:t>
            </a:r>
          </a:p>
        </p:txBody>
      </p:sp>
      <p:cxnSp>
        <p:nvCxnSpPr>
          <p:cNvPr id="22" name="Arrow4"/>
          <p:cNvCxnSpPr/>
          <p:nvPr/>
        </p:nvCxnSpPr>
        <p:spPr>
          <a:xfrm>
            <a:off x="3500000" y="2650000"/>
            <a:ext cx="350000" cy="0"/>
          </a:xfrm>
          <a:prstGeom prst="line">
            <a:avLst/>
          </a:prstGeom>
          <a:ln w="25400">
            <a:solidFill>
              <a:srgbClr val="2ECC71"/>
            </a:solidFill>
            <a:tailEnd type="triangle" w="med" len="med"/>
          </a:ln>
        </p:spPr>
      </p:cxnSp>
      <p:sp>
        <p:nvSpPr>
          <p:cNvPr id="23" name="Result2"/>
          <p:cNvSpPr/>
          <p:nvPr/>
        </p:nvSpPr>
        <p:spPr>
          <a:xfrm>
            <a:off x="3850000" y="2450000"/>
            <a:ext cx="1250000" cy="400000"/>
          </a:xfrm>
          <a:prstGeom prst="roundRect">
            <a:avLst>
              <a:gd name="adj" fmla="val 15000"/>
            </a:avLst>
          </a:prstGeom>
          <a:solidFill>
            <a:srgbClr val="BD93F9">
              <a:alpha val="15000"/>
            </a:srgbClr>
          </a:solidFill>
          <a:ln w="15875">
            <a:solidFill>
              <a:srgbClr val="BD93F9"/>
            </a:solidFill>
          </a:ln>
        </p:spPr>
        <p:txBody>
          <a:bodyPr wrap="square" lIns="45720" tIns="0" rIns="45720" bIns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E1E2E"/>
                </a:solidFill>
                <a:latin typeface="Calibri" pitchFamily="34" charset="0"/>
              </a:rPr>
              <a:t>Use </a:t>
            </a:r>
            <a:r>
              <a:rPr lang="en-US" sz="900" b="1">
                <a:solidFill>
                  <a:srgbClr val="BD93F9"/>
                </a:solidFill>
                <a:latin typeface="Consolas" pitchFamily="34" charset="0"/>
              </a:rPr>
              <a:t>__len__</a:t>
            </a:r>
          </a:p>
          <a:p>
            <a:pPr marL="0" indent="0" algn="ctr">
              <a:buNone/>
            </a:pPr>
            <a:r>
              <a:rPr lang="en-US" sz="800" i="1">
                <a:solidFill>
                  <a:srgbClr val="6C757D"/>
                </a:solidFill>
                <a:latin typeface="Calibri" pitchFamily="34" charset="0"/>
              </a:rPr>
              <a:t>0 = falsy</a:t>
            </a:r>
          </a:p>
        </p:txBody>
      </p:sp>
      <p:sp>
        <p:nvSpPr>
          <p:cNvPr id="24" name="NoLabel2"/>
          <p:cNvSpPr/>
          <p:nvPr/>
        </p:nvSpPr>
        <p:spPr>
          <a:xfrm>
            <a:off x="2353459" y="2960000"/>
            <a:ext cx="516541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E74C3C"/>
                </a:solidFill>
                <a:latin typeface="Calibri" pitchFamily="34" charset="0"/>
              </a:rPr>
              <a:t>No</a:t>
            </a:r>
          </a:p>
        </p:txBody>
      </p:sp>
      <p:cxnSp>
        <p:nvCxnSpPr>
          <p:cNvPr id="25" name="Arrow5"/>
          <p:cNvCxnSpPr/>
          <p:nvPr/>
        </p:nvCxnSpPr>
        <p:spPr>
          <a:xfrm>
            <a:off x="2750000" y="2950000"/>
            <a:ext cx="0" cy="475000"/>
          </a:xfrm>
          <a:prstGeom prst="line">
            <a:avLst/>
          </a:prstGeom>
          <a:ln w="25400">
            <a:solidFill>
              <a:srgbClr val="E74C3C"/>
            </a:solidFill>
            <a:tailEnd type="triangle" w="med" len="med"/>
          </a:ln>
        </p:spPr>
      </p:cxnSp>
      <p:sp>
        <p:nvSpPr>
          <p:cNvPr id="30" name="DefaultTrue"/>
          <p:cNvSpPr/>
          <p:nvPr/>
        </p:nvSpPr>
        <p:spPr>
          <a:xfrm>
            <a:off x="2000000" y="3425000"/>
            <a:ext cx="1500000" cy="450000"/>
          </a:xfrm>
          <a:prstGeom prst="flowChartTerminator">
            <a:avLst/>
          </a:prstGeom>
          <a:solidFill>
            <a:srgbClr val="1E293B"/>
          </a:solidFill>
          <a:ln w="0">
            <a:noFill/>
          </a:ln>
          <a:effectLst>
            <a:outerShdw blurRad="50800" dist="19050" dir="8100000" algn="bl" rotWithShape="0">
              <a:srgbClr val="000000">
                <a:alpha val="15000"/>
              </a:srgbClr>
            </a:outerShdw>
          </a:effectLst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</a:rPr>
              <a:t>Default: </a:t>
            </a:r>
            <a:r>
              <a:rPr lang="en-US" sz="1300" b="1">
                <a:solidFill>
                  <a:srgbClr val="2ECC71"/>
                </a:solidFill>
                <a:latin typeface="Consolas" pitchFamily="34" charset="0"/>
              </a:rPr>
              <a:t>True</a:t>
            </a:r>
          </a:p>
        </p:txBody>
      </p:sp>
      <p:sp>
        <p:nvSpPr>
          <p:cNvPr id="50" name="InsightBg"/>
          <p:cNvSpPr/>
          <p:nvPr/>
        </p:nvSpPr>
        <p:spPr>
          <a:xfrm>
            <a:off x="400000" y="4680000"/>
            <a:ext cx="8300000" cy="400000"/>
          </a:xfrm>
          <a:prstGeom prst="roundRect">
            <a:avLst>
              <a:gd name="adj" fmla="val 8000"/>
            </a:avLst>
          </a:prstGeom>
          <a:solidFill>
            <a:srgbClr val="306998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InsightText"/>
          <p:cNvSpPr/>
          <p:nvPr/>
        </p:nvSpPr>
        <p:spPr>
          <a:xfrm>
            <a:off x="640080" y="4680000"/>
            <a:ext cx="786384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</a:rPr>
              <a:t>Totally Pythonic Logic!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/>
      <p:bldP spid="20" grpId="0" animBg="1"/>
      <p:bldP spid="23" grpId="0" animBg="1"/>
      <p:bldP spid="24" grpId="0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F2110E-30F9-3C51-358B-97AF34CBE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759" y="471194"/>
            <a:ext cx="5058481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096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F45834-F867-83BB-7A6B-2E8E2CA21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89" y="1823933"/>
            <a:ext cx="7859222" cy="1495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27835A-93CF-9146-0ACF-3BF09D3ED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21" y="1329080"/>
            <a:ext cx="8446957" cy="248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684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ustom __bool__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320000"/>
            <a:ext cx="73152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D.I.Y Truth: </a:t>
            </a:r>
            <a:r>
              <a:rPr lang="en-US" sz="3200" dirty="0">
                <a:solidFill>
                  <a:srgbClr val="C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__bool__</a:t>
            </a:r>
          </a:p>
        </p:txBody>
      </p:sp>
      <p:sp>
        <p:nvSpPr>
          <p:cNvPr id="3" name="Subtitle"/>
          <p:cNvSpPr/>
          <p:nvPr/>
        </p:nvSpPr>
        <p:spPr>
          <a:xfrm>
            <a:off x="640080" y="850000"/>
            <a:ext cx="7863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can define their own truth value by implementing __bool__ (or __len__)</a:t>
            </a:r>
          </a:p>
        </p:txBody>
      </p:sp>
      <p:sp>
        <p:nvSpPr>
          <p:cNvPr id="12" name="InsightBg"/>
          <p:cNvSpPr/>
          <p:nvPr/>
        </p:nvSpPr>
        <p:spPr>
          <a:xfrm>
            <a:off x="640080" y="4680000"/>
            <a:ext cx="7863840" cy="400000"/>
          </a:xfrm>
          <a:prstGeom prst="roundRect">
            <a:avLst>
              <a:gd name="adj" fmla="val 8000"/>
            </a:avLst>
          </a:prstGeom>
          <a:solidFill>
            <a:srgbClr val="306998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InsightText"/>
          <p:cNvSpPr/>
          <p:nvPr/>
        </p:nvSpPr>
        <p:spPr>
          <a:xfrm>
            <a:off x="914400" y="4680000"/>
            <a:ext cx="73152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</a:rPr>
              <a:t>Fallback: </a:t>
            </a:r>
            <a:r>
              <a:rPr lang="en-US" sz="1200" b="1" dirty="0">
                <a:solidFill>
                  <a:srgbClr val="306998"/>
                </a:solidFill>
                <a:latin typeface="Calibri" pitchFamily="34" charset="0"/>
              </a:rPr>
              <a:t>if </a:t>
            </a: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</a:rPr>
              <a:t>__bool__ </a:t>
            </a:r>
            <a:r>
              <a:rPr lang="en-US" sz="1200" b="1" dirty="0">
                <a:solidFill>
                  <a:srgbClr val="306998"/>
                </a:solidFill>
                <a:latin typeface="Calibri" pitchFamily="34" charset="0"/>
              </a:rPr>
              <a:t>is not defined, Python checks </a:t>
            </a: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</a:rPr>
              <a:t>__</a:t>
            </a:r>
            <a:r>
              <a:rPr lang="en-US" sz="1200" b="1" dirty="0" err="1">
                <a:solidFill>
                  <a:schemeClr val="accent2">
                    <a:lumMod val="75000"/>
                  </a:schemeClr>
                </a:solidFill>
                <a:latin typeface="Calibri" pitchFamily="34" charset="0"/>
              </a:rPr>
              <a:t>len</a:t>
            </a: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</a:rPr>
              <a:t>__ </a:t>
            </a:r>
            <a:r>
              <a:rPr lang="en-US" sz="1200" b="1" dirty="0">
                <a:solidFill>
                  <a:srgbClr val="306998"/>
                </a:solidFill>
                <a:latin typeface="Calibri" pitchFamily="34" charset="0"/>
              </a:rPr>
              <a:t>— an object with length 0 is </a:t>
            </a:r>
            <a:r>
              <a:rPr lang="en-US" sz="1200" b="1" dirty="0" err="1">
                <a:solidFill>
                  <a:srgbClr val="306998"/>
                </a:solidFill>
                <a:latin typeface="Calibri" pitchFamily="34" charset="0"/>
              </a:rPr>
              <a:t>falsy</a:t>
            </a:r>
            <a:endParaRPr lang="en-US" sz="1200" b="1" dirty="0">
              <a:solidFill>
                <a:srgbClr val="306998"/>
              </a:solidFill>
              <a:latin typeface="Calibri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DF61E1F-B26E-3692-0974-C5044047B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669" y="1180000"/>
            <a:ext cx="7110675" cy="33621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__len__ Fallback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40080" y="320000"/>
            <a:ext cx="73152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</a:t>
            </a:r>
            <a:r>
              <a:rPr lang="en-US" sz="3200" dirty="0">
                <a:solidFill>
                  <a:srgbClr val="C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</a:t>
            </a:r>
            <a:r>
              <a:rPr lang="en-US" sz="3200" dirty="0" err="1">
                <a:solidFill>
                  <a:srgbClr val="C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len</a:t>
            </a:r>
            <a:r>
              <a:rPr lang="en-US" sz="3200" dirty="0">
                <a:solidFill>
                  <a:srgbClr val="C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__ </a:t>
            </a:r>
            <a:r>
              <a:rPr lang="en-US" sz="3200" dirty="0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Fallback</a:t>
            </a:r>
          </a:p>
        </p:txBody>
      </p:sp>
      <p:sp>
        <p:nvSpPr>
          <p:cNvPr id="3" name="Subtitle"/>
          <p:cNvSpPr/>
          <p:nvPr/>
        </p:nvSpPr>
        <p:spPr>
          <a:xfrm>
            <a:off x="640080" y="850000"/>
            <a:ext cx="7863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</a:t>
            </a: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__bool__ </a:t>
            </a:r>
            <a:r>
              <a:rPr lang="en-US" sz="15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defined, Python uses </a:t>
            </a: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r>
              <a:rPr lang="en-US" sz="15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 </a:t>
            </a:r>
            <a:r>
              <a:rPr lang="en-US" sz="15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determine truth value</a:t>
            </a:r>
          </a:p>
        </p:txBody>
      </p:sp>
      <p:sp>
        <p:nvSpPr>
          <p:cNvPr id="12" name="InsightBg"/>
          <p:cNvSpPr/>
          <p:nvPr/>
        </p:nvSpPr>
        <p:spPr>
          <a:xfrm>
            <a:off x="640080" y="4680000"/>
            <a:ext cx="7863840" cy="400000"/>
          </a:xfrm>
          <a:prstGeom prst="roundRect">
            <a:avLst>
              <a:gd name="adj" fmla="val 8000"/>
            </a:avLst>
          </a:prstGeom>
          <a:solidFill>
            <a:srgbClr val="306998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InsightText"/>
          <p:cNvSpPr/>
          <p:nvPr/>
        </p:nvSpPr>
        <p:spPr>
          <a:xfrm>
            <a:off x="914400" y="4680000"/>
            <a:ext cx="73152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06998"/>
                </a:solidFill>
                <a:latin typeface="Calibri" pitchFamily="34" charset="0"/>
              </a:rPr>
              <a:t>No </a:t>
            </a:r>
            <a:r>
              <a:rPr lang="en-US" sz="1200" b="1" dirty="0">
                <a:solidFill>
                  <a:srgbClr val="002060"/>
                </a:solidFill>
                <a:latin typeface="Calibri" pitchFamily="34" charset="0"/>
              </a:rPr>
              <a:t>__bool__</a:t>
            </a:r>
            <a:r>
              <a:rPr lang="en-US" sz="1200" b="1" dirty="0">
                <a:solidFill>
                  <a:srgbClr val="306998"/>
                </a:solidFill>
                <a:latin typeface="Calibri" pitchFamily="34" charset="0"/>
              </a:rPr>
              <a:t>? Python falls back to </a:t>
            </a:r>
            <a:r>
              <a:rPr lang="en-US" sz="1200" b="1" dirty="0">
                <a:solidFill>
                  <a:srgbClr val="002060"/>
                </a:solidFill>
                <a:latin typeface="Calibri" pitchFamily="34" charset="0"/>
              </a:rPr>
              <a:t>__</a:t>
            </a:r>
            <a:r>
              <a:rPr lang="en-US" sz="1200" b="1" dirty="0" err="1">
                <a:solidFill>
                  <a:srgbClr val="002060"/>
                </a:solidFill>
                <a:latin typeface="Calibri" pitchFamily="34" charset="0"/>
              </a:rPr>
              <a:t>len</a:t>
            </a:r>
            <a:r>
              <a:rPr lang="en-US" sz="1200" b="1" dirty="0">
                <a:solidFill>
                  <a:srgbClr val="002060"/>
                </a:solidFill>
                <a:latin typeface="Calibri" pitchFamily="34" charset="0"/>
              </a:rPr>
              <a:t>__</a:t>
            </a:r>
            <a:r>
              <a:rPr lang="en-US" sz="1200" b="1" dirty="0">
                <a:solidFill>
                  <a:srgbClr val="306998"/>
                </a:solidFill>
                <a:latin typeface="Calibri" pitchFamily="34" charset="0"/>
              </a:rPr>
              <a:t> — if length is 0, the object is </a:t>
            </a:r>
            <a:r>
              <a:rPr lang="en-US" sz="1200" b="1" dirty="0" err="1">
                <a:solidFill>
                  <a:srgbClr val="002060"/>
                </a:solidFill>
                <a:latin typeface="Calibri" pitchFamily="34" charset="0"/>
              </a:rPr>
              <a:t>falsy</a:t>
            </a:r>
            <a:r>
              <a:rPr lang="en-US" sz="1200" b="1" dirty="0">
                <a:solidFill>
                  <a:srgbClr val="306998"/>
                </a:solidFill>
                <a:latin typeface="Calibri" pitchFamily="34" charset="0"/>
              </a:rPr>
              <a:t>; otherwise </a:t>
            </a:r>
            <a:r>
              <a:rPr lang="en-US" sz="1200" b="1" dirty="0">
                <a:solidFill>
                  <a:srgbClr val="002060"/>
                </a:solidFill>
                <a:latin typeface="Calibri" pitchFamily="34" charset="0"/>
              </a:rPr>
              <a:t>truthy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CC75F60-C445-2950-AEE5-F7F890829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492" y="1248401"/>
            <a:ext cx="5730186" cy="30450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DC62D3-104A-B914-6DBB-AF1A55C74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62" y="806807"/>
            <a:ext cx="5747559" cy="4086693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F0EE6644-1532-387C-D6B6-83E9C00C6936}"/>
              </a:ext>
            </a:extLst>
          </p:cNvPr>
          <p:cNvSpPr/>
          <p:nvPr/>
        </p:nvSpPr>
        <p:spPr>
          <a:xfrm>
            <a:off x="400000" y="250000"/>
            <a:ext cx="83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Classic “Wrapper Class”</a:t>
            </a:r>
          </a:p>
        </p:txBody>
      </p:sp>
    </p:spTree>
    <p:extLst>
      <p:ext uri="{BB962C8B-B14F-4D97-AF65-F5344CB8AC3E}">
        <p14:creationId xmlns:p14="http://schemas.microsoft.com/office/powerpoint/2010/main" val="420525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C3F8DC5E-8C47-EA84-19A4-7B25D446F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451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202FE4-DECD-BB9C-A40D-76520B8F6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56" y="972799"/>
            <a:ext cx="7630590" cy="3362794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113F0FF1-266E-DAB7-A785-CAE85B2F59FD}"/>
              </a:ext>
            </a:extLst>
          </p:cNvPr>
          <p:cNvSpPr/>
          <p:nvPr/>
        </p:nvSpPr>
        <p:spPr>
          <a:xfrm>
            <a:off x="400000" y="250000"/>
            <a:ext cx="83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1E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Caveat: “Operator Overloading”</a:t>
            </a:r>
          </a:p>
        </p:txBody>
      </p:sp>
    </p:spTree>
    <p:extLst>
      <p:ext uri="{BB962C8B-B14F-4D97-AF65-F5344CB8AC3E}">
        <p14:creationId xmlns:p14="http://schemas.microsoft.com/office/powerpoint/2010/main" val="2458190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30699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FFD43B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write something Truthy!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0" y="2926080"/>
            <a:ext cx="3657600" cy="36576"/>
          </a:xfrm>
          <a:prstGeom prst="rect">
            <a:avLst/>
          </a:prstGeom>
          <a:solidFill>
            <a:srgbClr val="FFD43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discuss!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3AB1E3-27C2-2BDE-90F4-52C6A1A132CC}"/>
              </a:ext>
            </a:extLst>
          </p:cNvPr>
          <p:cNvSpPr txBox="1"/>
          <p:nvPr/>
        </p:nvSpPr>
        <p:spPr>
          <a:xfrm>
            <a:off x="2286000" y="170156"/>
            <a:ext cx="4572000" cy="1837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BlankStr</a:t>
            </a:r>
            <a:r>
              <a:rPr lang="en-US" dirty="0"/>
              <a:t>:</a:t>
            </a:r>
          </a:p>
          <a:p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</a:t>
            </a:r>
            <a:r>
              <a:rPr lang="en-US" dirty="0" err="1"/>
              <a:t>a_str</a:t>
            </a:r>
            <a:r>
              <a:rPr lang="en-US" dirty="0"/>
              <a:t>=None):</a:t>
            </a:r>
          </a:p>
          <a:p>
            <a:r>
              <a:rPr lang="en-US" dirty="0"/>
              <a:t>        if not </a:t>
            </a:r>
            <a:r>
              <a:rPr lang="en-US" dirty="0" err="1"/>
              <a:t>a_str</a:t>
            </a:r>
            <a:r>
              <a:rPr lang="en-US" dirty="0"/>
              <a:t>:</a:t>
            </a:r>
          </a:p>
          <a:p>
            <a:r>
              <a:rPr lang="en-US" dirty="0"/>
              <a:t>            </a:t>
            </a:r>
            <a:r>
              <a:rPr lang="en-US" dirty="0" err="1"/>
              <a:t>self.a_str</a:t>
            </a:r>
            <a:r>
              <a:rPr lang="en-US" dirty="0"/>
              <a:t> = None</a:t>
            </a:r>
          </a:p>
          <a:p>
            <a:r>
              <a:rPr lang="en-US" dirty="0"/>
              <a:t>        else:</a:t>
            </a:r>
          </a:p>
          <a:p>
            <a:r>
              <a:rPr lang="en-US" dirty="0"/>
              <a:t>            </a:t>
            </a:r>
            <a:r>
              <a:rPr lang="en-US" dirty="0" err="1"/>
              <a:t>self.a_str</a:t>
            </a:r>
            <a:r>
              <a:rPr lang="en-US" dirty="0"/>
              <a:t> = str(</a:t>
            </a:r>
            <a:r>
              <a:rPr lang="en-US" dirty="0" err="1"/>
              <a:t>a_str</a:t>
            </a:r>
            <a:r>
              <a:rPr lang="en-US" dirty="0"/>
              <a:t>)</a:t>
            </a:r>
          </a:p>
          <a:p>
            <a:r>
              <a:rPr lang="en-US" dirty="0"/>
              <a:t>##</a:t>
            </a:r>
          </a:p>
          <a:p>
            <a:r>
              <a:rPr lang="en-US" dirty="0"/>
              <a:t>##    def __bool__(self):</a:t>
            </a:r>
          </a:p>
          <a:p>
            <a:r>
              <a:rPr lang="en-US" dirty="0"/>
              <a:t>##        if not </a:t>
            </a:r>
            <a:r>
              <a:rPr lang="en-US" dirty="0" err="1"/>
              <a:t>self.a_str</a:t>
            </a:r>
            <a:r>
              <a:rPr lang="en-US" dirty="0"/>
              <a:t>: return False</a:t>
            </a:r>
          </a:p>
          <a:p>
            <a:r>
              <a:rPr lang="en-US" dirty="0"/>
              <a:t>##        if </a:t>
            </a:r>
            <a:r>
              <a:rPr lang="en-US" dirty="0" err="1"/>
              <a:t>self.a_str.isnumeric</a:t>
            </a:r>
            <a:r>
              <a:rPr lang="en-US" dirty="0"/>
              <a:t>():</a:t>
            </a:r>
          </a:p>
          <a:p>
            <a:r>
              <a:rPr lang="en-US" dirty="0"/>
              <a:t>##            return bool(int(</a:t>
            </a:r>
            <a:r>
              <a:rPr lang="en-US" dirty="0" err="1"/>
              <a:t>self.a_str</a:t>
            </a:r>
            <a:r>
              <a:rPr lang="en-US" dirty="0"/>
              <a:t>))</a:t>
            </a:r>
          </a:p>
          <a:p>
            <a:r>
              <a:rPr lang="en-US" dirty="0"/>
              <a:t>##        return not </a:t>
            </a:r>
            <a:r>
              <a:rPr lang="en-US" dirty="0" err="1"/>
              <a:t>self.a_str.isspace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    def __</a:t>
            </a:r>
            <a:r>
              <a:rPr lang="en-US" dirty="0" err="1"/>
              <a:t>len</a:t>
            </a:r>
            <a:r>
              <a:rPr lang="en-US" dirty="0"/>
              <a:t>__(self):</a:t>
            </a:r>
          </a:p>
          <a:p>
            <a:r>
              <a:rPr lang="en-US" dirty="0"/>
              <a:t>        if not </a:t>
            </a:r>
            <a:r>
              <a:rPr lang="en-US" dirty="0" err="1"/>
              <a:t>self.a_str</a:t>
            </a:r>
            <a:r>
              <a:rPr lang="en-US" dirty="0"/>
              <a:t>:</a:t>
            </a:r>
          </a:p>
          <a:p>
            <a:r>
              <a:rPr lang="en-US" dirty="0"/>
              <a:t>            return 0</a:t>
            </a:r>
          </a:p>
          <a:p>
            <a:r>
              <a:rPr lang="en-US" dirty="0"/>
              <a:t>        if </a:t>
            </a:r>
            <a:r>
              <a:rPr lang="en-US" dirty="0" err="1"/>
              <a:t>self.a_str.isspace</a:t>
            </a:r>
            <a:r>
              <a:rPr lang="en-US" dirty="0"/>
              <a:t>():</a:t>
            </a:r>
          </a:p>
          <a:p>
            <a:r>
              <a:rPr lang="en-US" dirty="0"/>
              <a:t>            return 0</a:t>
            </a:r>
          </a:p>
          <a:p>
            <a:r>
              <a:rPr lang="en-US" dirty="0"/>
              <a:t>        return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self.a_str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if bool(</a:t>
            </a:r>
            <a:r>
              <a:rPr lang="en-US" dirty="0" err="1"/>
              <a:t>BlankStr</a:t>
            </a:r>
            <a:r>
              <a:rPr lang="en-US" dirty="0"/>
              <a:t>(0))     == True: print("Error 001")</a:t>
            </a:r>
          </a:p>
          <a:p>
            <a:r>
              <a:rPr lang="en-US" dirty="0"/>
              <a:t>if bool(</a:t>
            </a:r>
            <a:r>
              <a:rPr lang="en-US" dirty="0" err="1"/>
              <a:t>BlankStr</a:t>
            </a:r>
            <a:r>
              <a:rPr lang="en-US" dirty="0"/>
              <a:t>(0j))    == True: print("Error 002")</a:t>
            </a:r>
          </a:p>
          <a:p>
            <a:r>
              <a:rPr lang="en-US" dirty="0"/>
              <a:t>if bool(</a:t>
            </a:r>
            <a:r>
              <a:rPr lang="en-US" dirty="0" err="1"/>
              <a:t>BlankStr</a:t>
            </a:r>
            <a:r>
              <a:rPr lang="en-US" dirty="0"/>
              <a:t>(0.0))   == True: print("Error 003")</a:t>
            </a:r>
          </a:p>
          <a:p>
            <a:r>
              <a:rPr lang="en-US" dirty="0"/>
              <a:t>if bool(</a:t>
            </a:r>
            <a:r>
              <a:rPr lang="en-US" dirty="0" err="1"/>
              <a:t>BlankStr</a:t>
            </a:r>
            <a:r>
              <a:rPr lang="en-US" dirty="0"/>
              <a:t>(0x00))  == True: print("Error 004")</a:t>
            </a:r>
          </a:p>
          <a:p>
            <a:r>
              <a:rPr lang="en-US" dirty="0"/>
              <a:t>if bool(</a:t>
            </a:r>
            <a:r>
              <a:rPr lang="en-US" dirty="0" err="1"/>
              <a:t>BlankStr</a:t>
            </a:r>
            <a:r>
              <a:rPr lang="en-US" dirty="0"/>
              <a:t>(' '))   == True: print("Error 005")</a:t>
            </a:r>
          </a:p>
          <a:p>
            <a:r>
              <a:rPr lang="en-US" dirty="0"/>
              <a:t>if bool(</a:t>
            </a:r>
            <a:r>
              <a:rPr lang="en-US" dirty="0" err="1"/>
              <a:t>BlankStr</a:t>
            </a:r>
            <a:r>
              <a:rPr lang="en-US" dirty="0"/>
              <a:t>('\n'))  == True: print("Error 006")</a:t>
            </a:r>
          </a:p>
          <a:p>
            <a:r>
              <a:rPr lang="en-US" dirty="0"/>
              <a:t>if bool(</a:t>
            </a:r>
            <a:r>
              <a:rPr lang="en-US" dirty="0" err="1"/>
              <a:t>BlankStr</a:t>
            </a:r>
            <a:r>
              <a:rPr lang="en-US" dirty="0"/>
              <a:t>(' \t')) == True: print("Error 007")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bool(</a:t>
            </a:r>
            <a:r>
              <a:rPr lang="en-US" dirty="0" err="1"/>
              <a:t>BlankStr</a:t>
            </a:r>
            <a:r>
              <a:rPr lang="en-US" dirty="0"/>
              <a:t>(1))     == False: print("Error 011")</a:t>
            </a:r>
          </a:p>
          <a:p>
            <a:r>
              <a:rPr lang="en-US" dirty="0"/>
              <a:t>if bool(</a:t>
            </a:r>
            <a:r>
              <a:rPr lang="en-US" dirty="0" err="1"/>
              <a:t>BlankStr</a:t>
            </a:r>
            <a:r>
              <a:rPr lang="en-US" dirty="0"/>
              <a:t>(1j))    == False: print("Error 012")</a:t>
            </a:r>
          </a:p>
          <a:p>
            <a:r>
              <a:rPr lang="en-US" dirty="0"/>
              <a:t>if bool(</a:t>
            </a:r>
            <a:r>
              <a:rPr lang="en-US" dirty="0" err="1"/>
              <a:t>BlankStr</a:t>
            </a:r>
            <a:r>
              <a:rPr lang="en-US" dirty="0"/>
              <a:t>(0.001)) == False: print("Error 013")</a:t>
            </a:r>
          </a:p>
          <a:p>
            <a:r>
              <a:rPr lang="en-US" dirty="0"/>
              <a:t>if bool(</a:t>
            </a:r>
            <a:r>
              <a:rPr lang="en-US" dirty="0" err="1"/>
              <a:t>BlankStr</a:t>
            </a:r>
            <a:r>
              <a:rPr lang="en-US" dirty="0"/>
              <a:t>(0x000001)) == False: print("Error 014")</a:t>
            </a:r>
          </a:p>
          <a:p>
            <a:r>
              <a:rPr lang="en-US" dirty="0"/>
              <a:t>if bool(</a:t>
            </a:r>
            <a:r>
              <a:rPr lang="en-US" dirty="0" err="1"/>
              <a:t>BlankStr</a:t>
            </a:r>
            <a:r>
              <a:rPr lang="en-US" dirty="0"/>
              <a:t>('?'))      == False: print("Error 015")</a:t>
            </a:r>
          </a:p>
          <a:p>
            <a:r>
              <a:rPr lang="en-US" dirty="0"/>
              <a:t>if bool(</a:t>
            </a:r>
            <a:r>
              <a:rPr lang="en-US" dirty="0" err="1"/>
              <a:t>BlankStr</a:t>
            </a:r>
            <a:r>
              <a:rPr lang="en-US" dirty="0"/>
              <a:t>(' '))      != False: print("Error 016")</a:t>
            </a:r>
          </a:p>
          <a:p>
            <a:r>
              <a:rPr lang="en-US" dirty="0"/>
              <a:t>if bool(</a:t>
            </a:r>
            <a:r>
              <a:rPr lang="en-US" dirty="0" err="1"/>
              <a:t>BlankStr</a:t>
            </a:r>
            <a:r>
              <a:rPr lang="en-US" dirty="0"/>
              <a:t>('\n'))     != False: print("Error 017")</a:t>
            </a:r>
          </a:p>
          <a:p>
            <a:r>
              <a:rPr lang="en-US" dirty="0"/>
              <a:t>if bool(</a:t>
            </a:r>
            <a:r>
              <a:rPr lang="en-US" dirty="0" err="1"/>
              <a:t>BlankStr</a:t>
            </a:r>
            <a:r>
              <a:rPr lang="en-US" dirty="0"/>
              <a:t>('\t'))     != False: print("Error 018")</a:t>
            </a:r>
          </a:p>
          <a:p>
            <a:endParaRPr lang="en-US" dirty="0"/>
          </a:p>
          <a:p>
            <a:r>
              <a:rPr lang="en-US" dirty="0"/>
              <a:t>print("Testing Success")</a:t>
            </a:r>
          </a:p>
          <a:p>
            <a:endParaRPr lang="en-US" dirty="0"/>
          </a:p>
          <a:p>
            <a:r>
              <a:rPr lang="en-US" dirty="0"/>
              <a:t>##while True:</a:t>
            </a:r>
          </a:p>
          <a:p>
            <a:r>
              <a:rPr lang="en-US" dirty="0"/>
              <a:t>##    if input("Which: "):</a:t>
            </a:r>
          </a:p>
          <a:p>
            <a:r>
              <a:rPr lang="en-US" dirty="0"/>
              <a:t>##        print("is true")</a:t>
            </a:r>
          </a:p>
          <a:p>
            <a:r>
              <a:rPr lang="en-US" dirty="0"/>
              <a:t>##    else:</a:t>
            </a:r>
          </a:p>
          <a:p>
            <a:r>
              <a:rPr lang="en-US" dirty="0"/>
              <a:t>##        print("is false")</a:t>
            </a:r>
          </a:p>
          <a:p>
            <a:r>
              <a:rPr lang="en-US" dirty="0"/>
              <a:t>##</a:t>
            </a:r>
          </a:p>
          <a:p>
            <a:r>
              <a:rPr lang="en-US" dirty="0"/>
              <a:t>##while True:</a:t>
            </a:r>
          </a:p>
          <a:p>
            <a:r>
              <a:rPr lang="en-US" dirty="0"/>
              <a:t>##    if bool(</a:t>
            </a:r>
            <a:r>
              <a:rPr lang="en-US" dirty="0" err="1"/>
              <a:t>BlankStr</a:t>
            </a:r>
            <a:r>
              <a:rPr lang="en-US" dirty="0"/>
              <a:t>(input("Which: ")):</a:t>
            </a:r>
          </a:p>
          <a:p>
            <a:r>
              <a:rPr lang="en-US" dirty="0"/>
              <a:t>##        print("Truly")</a:t>
            </a:r>
          </a:p>
          <a:p>
            <a:r>
              <a:rPr lang="en-US" dirty="0"/>
              <a:t>##    else:</a:t>
            </a:r>
          </a:p>
          <a:p>
            <a:r>
              <a:rPr lang="en-US" dirty="0"/>
              <a:t>##        print("Flasy")</a:t>
            </a:r>
          </a:p>
        </p:txBody>
      </p:sp>
    </p:spTree>
    <p:extLst>
      <p:ext uri="{BB962C8B-B14F-4D97-AF65-F5344CB8AC3E}">
        <p14:creationId xmlns:p14="http://schemas.microsoft.com/office/powerpoint/2010/main" val="2660330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1848</Words>
  <Application>Microsoft Office PowerPoint</Application>
  <PresentationFormat>On-screen Show (16:9)</PresentationFormat>
  <Paragraphs>143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Randall Nagy</dc:creator>
  <cp:lastModifiedBy>Randall Nagy</cp:lastModifiedBy>
  <cp:revision>49</cp:revision>
  <dcterms:created xsi:type="dcterms:W3CDTF">2026-05-13T18:55:22Z</dcterms:created>
  <dcterms:modified xsi:type="dcterms:W3CDTF">2026-05-29T12:22:45Z</dcterms:modified>
</cp:coreProperties>
</file>